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" name="Shape 1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name="adj" fmla="val 20211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39961" y="229046"/>
            <a:ext cx="121385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17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Alumni Connect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7231038" y="238051"/>
            <a:ext cx="153289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PRESENTATION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8549060" y="238051"/>
            <a:ext cx="35510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365745" y="1406426"/>
            <a:ext cx="257873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860" b="1" spc="43" kern="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STUDENT-ALUMNI NETWORKING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365745" y="1579587"/>
            <a:ext cx="4623874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3600" b="1" spc="-72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Alumni Connect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65745" y="2232943"/>
            <a:ext cx="4655024" cy="578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Bridging the gap between students and alumni for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networking, mentorship, and placement support within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educational institutions.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365001" y="3035536"/>
            <a:ext cx="2324100" cy="776287"/>
          </a:xfrm>
          <a:prstGeom prst="roundRect">
            <a:avLst>
              <a:gd name="adj" fmla="val 11779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137160" dist="45720" dir="5400000">
              <a:srgbClr val="1E3A5F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3343" y="3179490"/>
            <a:ext cx="85195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650" b="1" spc="32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553343" y="3334494"/>
            <a:ext cx="1345027" cy="276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3"/>
              </a:lnSpc>
              <a:buNone/>
            </a:pPr>
            <a:r>
              <a:rPr lang="en-US" sz="8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 Science</a:t>
            </a:r>
            <a:endParaRPr lang="en-US" sz="860" dirty="0"/>
          </a:p>
          <a:p>
            <a:pPr algn="l" indent="0" marL="0">
              <a:lnSpc>
                <a:spcPts val="1123"/>
              </a:lnSpc>
              <a:buNone/>
            </a:pPr>
            <a:r>
              <a:rPr lang="en-US" sz="8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Engineering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2870448" y="3035536"/>
            <a:ext cx="2324100" cy="776287"/>
          </a:xfrm>
          <a:prstGeom prst="roundRect">
            <a:avLst>
              <a:gd name="adj" fmla="val 11779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137160" dist="45720" dir="5400000">
              <a:srgbClr val="1E3A5F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058790" y="3179490"/>
            <a:ext cx="93098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650" b="1" spc="32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TYPE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3058790" y="3363069"/>
            <a:ext cx="1382077" cy="280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App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169122" y="3460217"/>
            <a:ext cx="600075" cy="190500"/>
          </a:xfrm>
          <a:prstGeom prst="roundRect">
            <a:avLst>
              <a:gd name="adj" fmla="val 50000"/>
            </a:avLst>
          </a:prstGeom>
          <a:solidFill>
            <a:srgbClr val="0D9488">
              <a:alpha val="1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242495" y="3496419"/>
            <a:ext cx="64648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Full-Stack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5559177" y="701204"/>
            <a:ext cx="3219450" cy="3800475"/>
          </a:xfrm>
          <a:prstGeom prst="roundRect">
            <a:avLst>
              <a:gd name="adj" fmla="val 2840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137160" dist="45720" dir="5400000">
              <a:srgbClr val="1E3A5F">
                <a:alpha val="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747147" y="875109"/>
            <a:ext cx="149574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Connection Network</a:t>
            </a:r>
            <a:endParaRPr lang="en-US" sz="86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9352" y="1316534"/>
            <a:ext cx="2559100" cy="2610892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6629623" y="4234979"/>
            <a:ext cx="90488" cy="9048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0"/>
          <p:cNvSpPr/>
          <p:nvPr/>
        </p:nvSpPr>
        <p:spPr>
          <a:xfrm>
            <a:off x="6766247" y="4228058"/>
            <a:ext cx="41043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Alumni</a:t>
            </a:r>
            <a:endParaRPr lang="en-US" sz="650" dirty="0"/>
          </a:p>
        </p:txBody>
      </p:sp>
      <p:sp>
        <p:nvSpPr>
          <p:cNvPr id="24" name="Shape 21"/>
          <p:cNvSpPr/>
          <p:nvPr/>
        </p:nvSpPr>
        <p:spPr>
          <a:xfrm>
            <a:off x="7221289" y="4234979"/>
            <a:ext cx="90488" cy="904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5" name="Text 22"/>
          <p:cNvSpPr/>
          <p:nvPr/>
        </p:nvSpPr>
        <p:spPr>
          <a:xfrm>
            <a:off x="7357914" y="4228058"/>
            <a:ext cx="51307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</a:t>
            </a:r>
            <a:endParaRPr lang="en-US" sz="650" dirty="0"/>
          </a:p>
        </p:txBody>
      </p:sp>
      <p:sp>
        <p:nvSpPr>
          <p:cNvPr id="26" name="Shape 23"/>
          <p:cNvSpPr/>
          <p:nvPr/>
        </p:nvSpPr>
        <p:spPr>
          <a:xfrm>
            <a:off x="366713" y="4705610"/>
            <a:ext cx="8410575" cy="233362"/>
          </a:xfrm>
          <a:prstGeom prst="rect">
            <a:avLst/>
          </a:prstGeom>
          <a:ln/>
        </p:spPr>
      </p:sp>
      <p:sp>
        <p:nvSpPr>
          <p:cNvPr id="27" name="Text 24"/>
          <p:cNvSpPr/>
          <p:nvPr/>
        </p:nvSpPr>
        <p:spPr>
          <a:xfrm>
            <a:off x="365745" y="4823892"/>
            <a:ext cx="193242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Alumni Connect — CSE Project 2026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7433295" y="4823892"/>
            <a:ext cx="95681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Academic Project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8216726" y="4823892"/>
            <a:ext cx="11422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8352011" y="4823892"/>
            <a:ext cx="61126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 of 6</a:t>
            </a:r>
            <a:endParaRPr lang="en-US" sz="65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5643"/>
            <a:ext cx="8410575" cy="290513"/>
          </a:xfrm>
          <a:prstGeom prst="rect">
            <a:avLst/>
          </a:prstGeom>
        </p:spPr>
      </p:pic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4705610"/>
            <a:ext cx="8410575" cy="2333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" name="Shape 1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name="adj" fmla="val 20211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39961" y="229046"/>
            <a:ext cx="121385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17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Alumni Connect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7875910" y="238051"/>
            <a:ext cx="69455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ABSTRACT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8549060" y="238051"/>
            <a:ext cx="35510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365745" y="1130201"/>
            <a:ext cx="164075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860" b="1" spc="43" kern="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OVERVIEW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365745" y="1308125"/>
            <a:ext cx="3486135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2880" b="1" spc="-58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Alumni</a:t>
            </a:r>
            <a:endParaRPr lang="en-US" sz="2880" dirty="0"/>
          </a:p>
        </p:txBody>
      </p:sp>
      <p:sp>
        <p:nvSpPr>
          <p:cNvPr id="10" name="Text 8"/>
          <p:cNvSpPr/>
          <p:nvPr/>
        </p:nvSpPr>
        <p:spPr>
          <a:xfrm>
            <a:off x="365745" y="1710407"/>
            <a:ext cx="2258623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2880" b="1" spc="-58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Connect?</a:t>
            </a:r>
            <a:endParaRPr lang="en-US" sz="2880" dirty="0"/>
          </a:p>
        </p:txBody>
      </p:sp>
      <p:sp>
        <p:nvSpPr>
          <p:cNvPr id="11" name="Text 9"/>
          <p:cNvSpPr/>
          <p:nvPr/>
        </p:nvSpPr>
        <p:spPr>
          <a:xfrm>
            <a:off x="365745" y="2263155"/>
            <a:ext cx="4764532" cy="561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13"/>
              </a:lnSpc>
              <a:buNone/>
            </a:pPr>
            <a:r>
              <a:rPr lang="en-US" sz="101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web-based platform designed to bridge the gap between</a:t>
            </a:r>
            <a:endParaRPr lang="en-US" sz="1010" dirty="0"/>
          </a:p>
          <a:p>
            <a:pPr algn="l" indent="0" marL="0">
              <a:lnSpc>
                <a:spcPts val="1613"/>
              </a:lnSpc>
              <a:buNone/>
            </a:pPr>
            <a:r>
              <a:rPr lang="en-US" sz="101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students and institutional alumni through structured,</a:t>
            </a:r>
            <a:endParaRPr lang="en-US" sz="1010" dirty="0"/>
          </a:p>
          <a:p>
            <a:pPr algn="l" indent="0" marL="0">
              <a:lnSpc>
                <a:spcPts val="1613"/>
              </a:lnSpc>
              <a:buNone/>
            </a:pPr>
            <a:r>
              <a:rPr lang="en-US" sz="101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interest-driven connections.</a:t>
            </a:r>
            <a:endParaRPr lang="en-US" sz="1010" dirty="0"/>
          </a:p>
        </p:txBody>
      </p:sp>
      <p:sp>
        <p:nvSpPr>
          <p:cNvPr id="12" name="Shape 10"/>
          <p:cNvSpPr/>
          <p:nvPr/>
        </p:nvSpPr>
        <p:spPr>
          <a:xfrm>
            <a:off x="365261" y="3058827"/>
            <a:ext cx="4024312" cy="10287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137160" dist="45720" dir="5400000">
              <a:srgbClr val="1E3A5F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9108" y="3227933"/>
            <a:ext cx="94752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650" b="1" spc="32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PURPOSE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599108" y="3407569"/>
            <a:ext cx="4666729" cy="499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3"/>
              </a:lnSpc>
              <a:buNone/>
            </a:pPr>
            <a:r>
              <a:rPr lang="en-US" sz="94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students and alumni based on shared interests,</a:t>
            </a:r>
            <a:endParaRPr lang="en-US" sz="940" dirty="0"/>
          </a:p>
          <a:p>
            <a:pPr algn="l" indent="0" marL="0">
              <a:lnSpc>
                <a:spcPts val="1403"/>
              </a:lnSpc>
              <a:buNone/>
            </a:pPr>
            <a:r>
              <a:rPr lang="en-US" sz="94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skills, and organizations to enable mentorship, guidance, and</a:t>
            </a:r>
            <a:endParaRPr lang="en-US" sz="940" dirty="0"/>
          </a:p>
          <a:p>
            <a:pPr algn="l" indent="0" marL="0">
              <a:lnSpc>
                <a:spcPts val="1403"/>
              </a:lnSpc>
              <a:buNone/>
            </a:pPr>
            <a:r>
              <a:rPr lang="en-US" sz="94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placement support.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4754389" y="983568"/>
            <a:ext cx="4024312" cy="733425"/>
          </a:xfrm>
          <a:prstGeom prst="roundRect">
            <a:avLst>
              <a:gd name="adj" fmla="val 12468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137160" dist="45720" dir="5400000">
              <a:srgbClr val="1E3A5F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41466" y="1117029"/>
            <a:ext cx="276225" cy="276225"/>
          </a:xfrm>
          <a:prstGeom prst="ellipse">
            <a:avLst/>
          </a:prstGeom>
          <a:solidFill>
            <a:srgbClr val="0D9488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018931" y="1187128"/>
            <a:ext cx="21483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5353869" y="1132284"/>
            <a:ext cx="149700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8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Web-Based Platform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5353869" y="1317799"/>
            <a:ext cx="4230343" cy="251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Connects current students and institutional alumni through a unified digital</a:t>
            </a:r>
            <a:endParaRPr lang="en-US" sz="72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ecosystem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754389" y="1817675"/>
            <a:ext cx="4024312" cy="733425"/>
          </a:xfrm>
          <a:prstGeom prst="roundRect">
            <a:avLst>
              <a:gd name="adj" fmla="val 12468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137160" dist="45720" dir="5400000">
              <a:srgbClr val="1E3A5F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41466" y="1951137"/>
            <a:ext cx="276225" cy="276225"/>
          </a:xfrm>
          <a:prstGeom prst="ellipse">
            <a:avLst/>
          </a:prstGeom>
          <a:solidFill>
            <a:srgbClr val="0D9488">
              <a:alpha val="1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007992" y="2021235"/>
            <a:ext cx="24317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5353869" y="1966392"/>
            <a:ext cx="203467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8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Interest-Driven Connections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5353869" y="2151906"/>
            <a:ext cx="4118320" cy="251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Enables connections based on shared interests, skills, and organizations</a:t>
            </a:r>
            <a:endParaRPr lang="en-US" sz="72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meaningful engagement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4754389" y="2651782"/>
            <a:ext cx="4024312" cy="733425"/>
          </a:xfrm>
          <a:prstGeom prst="roundRect">
            <a:avLst>
              <a:gd name="adj" fmla="val 12468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137160" dist="45720" dir="5400000">
              <a:srgbClr val="1E3A5F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41466" y="2785244"/>
            <a:ext cx="276225" cy="276225"/>
          </a:xfrm>
          <a:prstGeom prst="ellipse">
            <a:avLst/>
          </a:prstGeom>
          <a:solidFill>
            <a:srgbClr val="0D9488">
              <a:alpha val="1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007173" y="2855342"/>
            <a:ext cx="24540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5353869" y="2800499"/>
            <a:ext cx="235545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8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Mentorship &amp; Placement Support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5353869" y="2986013"/>
            <a:ext cx="3980178" cy="251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Facilitates career guidance and placement support within a structured</a:t>
            </a:r>
            <a:endParaRPr lang="en-US" sz="72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ecosystem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4754389" y="3485890"/>
            <a:ext cx="4024312" cy="733425"/>
          </a:xfrm>
          <a:prstGeom prst="roundRect">
            <a:avLst>
              <a:gd name="adj" fmla="val 12468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137160" dist="45720" dir="5400000">
              <a:srgbClr val="1E3A5F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41466" y="3619351"/>
            <a:ext cx="276225" cy="276225"/>
          </a:xfrm>
          <a:prstGeom prst="ellipse">
            <a:avLst/>
          </a:prstGeom>
          <a:solidFill>
            <a:srgbClr val="0D9488">
              <a:alpha val="1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005462" y="3689449"/>
            <a:ext cx="24975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5353869" y="3634606"/>
            <a:ext cx="200526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8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Solves Fragmented Records</a:t>
            </a:r>
            <a:endParaRPr lang="en-US" sz="860" dirty="0"/>
          </a:p>
        </p:txBody>
      </p:sp>
      <p:sp>
        <p:nvSpPr>
          <p:cNvPr id="34" name="Text 32"/>
          <p:cNvSpPr/>
          <p:nvPr/>
        </p:nvSpPr>
        <p:spPr>
          <a:xfrm>
            <a:off x="5353869" y="3820120"/>
            <a:ext cx="3994495" cy="251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Addresses the challenge of siloed alumni records and lack of a unified</a:t>
            </a:r>
            <a:endParaRPr lang="en-US" sz="72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institutional networking channel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366713" y="4705610"/>
            <a:ext cx="8410575" cy="233362"/>
          </a:xfrm>
          <a:prstGeom prst="rect">
            <a:avLst/>
          </a:prstGeom>
          <a:ln/>
        </p:spPr>
      </p:sp>
      <p:sp>
        <p:nvSpPr>
          <p:cNvPr id="36" name="Text 34"/>
          <p:cNvSpPr/>
          <p:nvPr/>
        </p:nvSpPr>
        <p:spPr>
          <a:xfrm>
            <a:off x="365745" y="4823892"/>
            <a:ext cx="193242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Alumni Connect — CSE Project 2026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7416701" y="4823892"/>
            <a:ext cx="95681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Academic Project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8200132" y="4823892"/>
            <a:ext cx="11422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8335417" y="4823892"/>
            <a:ext cx="63284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 of 6</a:t>
            </a:r>
            <a:endParaRPr lang="en-US" sz="650" dirty="0"/>
          </a:p>
        </p:txBody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6713" y="205643"/>
            <a:ext cx="8410575" cy="290513"/>
          </a:xfrm>
          <a:prstGeom prst="rect">
            <a:avLst/>
          </a:prstGeom>
        </p:spPr>
      </p:pic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4705610"/>
            <a:ext cx="8410575" cy="2333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" name="Shape 1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name="adj" fmla="val 20211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39961" y="229046"/>
            <a:ext cx="121385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17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Alumni Connect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7354565" y="238051"/>
            <a:ext cx="137230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8549060" y="238051"/>
            <a:ext cx="35510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365745" y="1219274"/>
            <a:ext cx="134067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860" b="1" spc="43" kern="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CHALLENGE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365745" y="1397198"/>
            <a:ext cx="4740540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2880" b="1" spc="-58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Gap in Institutional</a:t>
            </a:r>
            <a:endParaRPr lang="en-US" sz="2880" dirty="0"/>
          </a:p>
        </p:txBody>
      </p:sp>
      <p:sp>
        <p:nvSpPr>
          <p:cNvPr id="10" name="Text 8"/>
          <p:cNvSpPr/>
          <p:nvPr/>
        </p:nvSpPr>
        <p:spPr>
          <a:xfrm>
            <a:off x="365745" y="1799481"/>
            <a:ext cx="2732254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2880" b="1" spc="-58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Networking</a:t>
            </a:r>
            <a:endParaRPr lang="en-US" sz="2880" dirty="0"/>
          </a:p>
        </p:txBody>
      </p:sp>
      <p:sp>
        <p:nvSpPr>
          <p:cNvPr id="11" name="Text 9"/>
          <p:cNvSpPr/>
          <p:nvPr/>
        </p:nvSpPr>
        <p:spPr>
          <a:xfrm>
            <a:off x="365745" y="2352229"/>
            <a:ext cx="5179732" cy="561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13"/>
              </a:lnSpc>
              <a:buNone/>
            </a:pPr>
            <a:r>
              <a:rPr lang="en-US" sz="101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Educational institutions maintain alumni data in isolated, outdated</a:t>
            </a:r>
            <a:endParaRPr lang="en-US" sz="1010" dirty="0"/>
          </a:p>
          <a:p>
            <a:pPr algn="l" indent="0" marL="0">
              <a:lnSpc>
                <a:spcPts val="1613"/>
              </a:lnSpc>
              <a:buNone/>
            </a:pPr>
            <a:r>
              <a:rPr lang="en-US" sz="101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systems. Neither students nor alumni have a structured, trusted</a:t>
            </a:r>
            <a:endParaRPr lang="en-US" sz="1010" dirty="0"/>
          </a:p>
          <a:p>
            <a:pPr algn="l" indent="0" marL="0">
              <a:lnSpc>
                <a:spcPts val="1613"/>
              </a:lnSpc>
              <a:buNone/>
            </a:pPr>
            <a:r>
              <a:rPr lang="en-US" sz="101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to connect with each other.</a:t>
            </a:r>
            <a:endParaRPr lang="en-US" sz="1010" dirty="0"/>
          </a:p>
        </p:txBody>
      </p:sp>
      <p:sp>
        <p:nvSpPr>
          <p:cNvPr id="12" name="Shape 10"/>
          <p:cNvSpPr/>
          <p:nvPr/>
        </p:nvSpPr>
        <p:spPr>
          <a:xfrm>
            <a:off x="365261" y="3149278"/>
            <a:ext cx="4024312" cy="847725"/>
          </a:xfrm>
          <a:prstGeom prst="roundRect">
            <a:avLst>
              <a:gd name="adj" fmla="val 10787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137160" dist="45720" dir="5400000">
              <a:srgbClr val="1E3A5F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9108" y="3317007"/>
            <a:ext cx="75918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650" b="1" spc="32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RESULT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599108" y="3496642"/>
            <a:ext cx="4615361" cy="321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3"/>
              </a:lnSpc>
              <a:buNone/>
            </a:pPr>
            <a:r>
              <a:rPr lang="en-US" sz="94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Missed mentorship opportunities, poor placement rates, and</a:t>
            </a:r>
            <a:endParaRPr lang="en-US" sz="940" dirty="0"/>
          </a:p>
          <a:p>
            <a:pPr algn="l" indent="0" marL="0">
              <a:lnSpc>
                <a:spcPts val="1403"/>
              </a:lnSpc>
              <a:buNone/>
            </a:pPr>
            <a:r>
              <a:rPr lang="en-US" sz="94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 alumni engagement across institutions.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4754389" y="701204"/>
            <a:ext cx="4024312" cy="3800475"/>
          </a:xfrm>
          <a:prstGeom prst="roundRect">
            <a:avLst>
              <a:gd name="adj" fmla="val 2406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137160" dist="45720" dir="5400000">
              <a:srgbClr val="1E3A5F">
                <a:alpha val="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88198" y="1236464"/>
            <a:ext cx="121704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Pain Points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4988644" y="1626691"/>
            <a:ext cx="90488" cy="90488"/>
          </a:xfrm>
          <a:prstGeom prst="ellipse">
            <a:avLst/>
          </a:prstGeom>
          <a:solidFill>
            <a:srgbClr val="0D9488"/>
          </a:solidFill>
          <a:ln w="14288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E2E8F0">
                <a:alpha val="10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16723" y="1625129"/>
            <a:ext cx="149110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79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Siloed Alumni Records</a:t>
            </a:r>
            <a:endParaRPr lang="en-US" sz="790" dirty="0"/>
          </a:p>
        </p:txBody>
      </p:sp>
      <p:sp>
        <p:nvSpPr>
          <p:cNvPr id="19" name="Text 17"/>
          <p:cNvSpPr/>
          <p:nvPr/>
        </p:nvSpPr>
        <p:spPr>
          <a:xfrm>
            <a:off x="5216723" y="1781919"/>
            <a:ext cx="374239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Institutions maintain alumni data in outdated, fragmented systems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988644" y="2049587"/>
            <a:ext cx="90488" cy="90488"/>
          </a:xfrm>
          <a:prstGeom prst="ellipse">
            <a:avLst/>
          </a:prstGeom>
          <a:solidFill>
            <a:srgbClr val="0D9488"/>
          </a:solidFill>
          <a:ln w="14288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E2E8F0">
                <a:alpha val="10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216723" y="2048024"/>
            <a:ext cx="174639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79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Direct Student Channel</a:t>
            </a:r>
            <a:endParaRPr lang="en-US" sz="790" dirty="0"/>
          </a:p>
        </p:txBody>
      </p:sp>
      <p:sp>
        <p:nvSpPr>
          <p:cNvPr id="22" name="Text 20"/>
          <p:cNvSpPr/>
          <p:nvPr/>
        </p:nvSpPr>
        <p:spPr>
          <a:xfrm>
            <a:off x="5216723" y="2204814"/>
            <a:ext cx="430802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lack a direct way to reach relevant alumni for guidance or referrals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4988644" y="2472482"/>
            <a:ext cx="90488" cy="90488"/>
          </a:xfrm>
          <a:prstGeom prst="ellipse">
            <a:avLst/>
          </a:prstGeom>
          <a:solidFill>
            <a:srgbClr val="0D9488"/>
          </a:solidFill>
          <a:ln w="14288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E2E8F0">
                <a:alpha val="10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216723" y="2470919"/>
            <a:ext cx="2186747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79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Alumni Give-Back Mechanism</a:t>
            </a:r>
            <a:endParaRPr lang="en-US" sz="790" dirty="0"/>
          </a:p>
        </p:txBody>
      </p:sp>
      <p:sp>
        <p:nvSpPr>
          <p:cNvPr id="25" name="Text 23"/>
          <p:cNvSpPr/>
          <p:nvPr/>
        </p:nvSpPr>
        <p:spPr>
          <a:xfrm>
            <a:off x="5216723" y="2627709"/>
            <a:ext cx="3912364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Alumni have no structured way to stay engaged or contribute to their</a:t>
            </a:r>
            <a:endParaRPr lang="en-US" sz="720" dirty="0"/>
          </a:p>
          <a:p>
            <a:pPr algn="l" indent="0" marL="0">
              <a:lnSpc>
                <a:spcPts val="1008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institution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4988644" y="3023369"/>
            <a:ext cx="90488" cy="90488"/>
          </a:xfrm>
          <a:prstGeom prst="ellipse">
            <a:avLst/>
          </a:prstGeom>
          <a:solidFill>
            <a:srgbClr val="0D9488"/>
          </a:solidFill>
          <a:ln w="14288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E2E8F0">
                <a:alpha val="10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216723" y="3021806"/>
            <a:ext cx="208101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79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Generic Networks Lack Context</a:t>
            </a:r>
            <a:endParaRPr lang="en-US" sz="790" dirty="0"/>
          </a:p>
        </p:txBody>
      </p:sp>
      <p:sp>
        <p:nvSpPr>
          <p:cNvPr id="28" name="Text 26"/>
          <p:cNvSpPr/>
          <p:nvPr/>
        </p:nvSpPr>
        <p:spPr>
          <a:xfrm>
            <a:off x="5216723" y="3178597"/>
            <a:ext cx="4031933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Platforms like LinkedIn lack the institutional trust and academic context</a:t>
            </a:r>
            <a:endParaRPr lang="en-US" sz="720" dirty="0"/>
          </a:p>
          <a:p>
            <a:pPr algn="l" indent="0" marL="0">
              <a:lnSpc>
                <a:spcPts val="1008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needed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4988644" y="3574256"/>
            <a:ext cx="90488" cy="90488"/>
          </a:xfrm>
          <a:prstGeom prst="ellipse">
            <a:avLst/>
          </a:prstGeom>
          <a:solidFill>
            <a:srgbClr val="0D9488"/>
          </a:solidFill>
          <a:ln w="14288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E2E8F0">
                <a:alpha val="10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216723" y="3572694"/>
            <a:ext cx="143363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79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Missed Opportunities</a:t>
            </a:r>
            <a:endParaRPr lang="en-US" sz="790" dirty="0"/>
          </a:p>
        </p:txBody>
      </p:sp>
      <p:sp>
        <p:nvSpPr>
          <p:cNvPr id="31" name="Text 29"/>
          <p:cNvSpPr/>
          <p:nvPr/>
        </p:nvSpPr>
        <p:spPr>
          <a:xfrm>
            <a:off x="5216723" y="3729484"/>
            <a:ext cx="4358714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 alumni engagement leads to poor placement rates and lost mentorship</a:t>
            </a:r>
            <a:endParaRPr lang="en-US" sz="720" dirty="0"/>
          </a:p>
          <a:p>
            <a:pPr algn="l" indent="0" marL="0">
              <a:lnSpc>
                <a:spcPts val="1008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potential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366713" y="4705610"/>
            <a:ext cx="8410575" cy="233362"/>
          </a:xfrm>
          <a:prstGeom prst="rect">
            <a:avLst/>
          </a:prstGeom>
          <a:ln/>
        </p:spPr>
      </p:sp>
      <p:sp>
        <p:nvSpPr>
          <p:cNvPr id="33" name="Text 31"/>
          <p:cNvSpPr/>
          <p:nvPr/>
        </p:nvSpPr>
        <p:spPr>
          <a:xfrm>
            <a:off x="365745" y="4823892"/>
            <a:ext cx="193242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Alumni Connect — CSE Project 2026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7415808" y="4823892"/>
            <a:ext cx="95681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Academic Project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8199239" y="4823892"/>
            <a:ext cx="11422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8334524" y="4823892"/>
            <a:ext cx="63400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 of 6</a:t>
            </a:r>
            <a:endParaRPr lang="en-US" sz="650" dirty="0"/>
          </a:p>
        </p:txBody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6713" y="205643"/>
            <a:ext cx="8410575" cy="290513"/>
          </a:xfrm>
          <a:prstGeom prst="rect">
            <a:avLst/>
          </a:prstGeom>
        </p:spPr>
      </p:pic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87751" y="1221246"/>
            <a:ext cx="3557588" cy="261937"/>
          </a:xfrm>
          <a:prstGeom prst="rect">
            <a:avLst/>
          </a:prstGeom>
        </p:spPr>
      </p:pic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713" y="4705610"/>
            <a:ext cx="8410575" cy="2333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" name="Shape 1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name="adj" fmla="val 20211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39961" y="229046"/>
            <a:ext cx="121385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17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Alumni Connect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7023795" y="238051"/>
            <a:ext cx="180230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 FUNCTIONALITIES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8549060" y="238051"/>
            <a:ext cx="35510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3913670" y="613246"/>
            <a:ext cx="131658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324"/>
              </a:spcAft>
              <a:buNone/>
            </a:pPr>
            <a:r>
              <a:rPr lang="en-US" sz="860" b="1" spc="43" kern="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FEATURES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2655964" y="785589"/>
            <a:ext cx="3832071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00" b="1" spc="-46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Capabilities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366229" y="1230474"/>
            <a:ext cx="2681288" cy="1633538"/>
          </a:xfrm>
          <a:prstGeom prst="roundRect">
            <a:avLst>
              <a:gd name="adj" fmla="val 5598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137160" dist="45720" dir="5400000">
              <a:srgbClr val="1E3A5F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3343" y="1362670"/>
            <a:ext cx="228600" cy="228600"/>
          </a:xfrm>
          <a:prstGeom prst="roundRect">
            <a:avLst>
              <a:gd name="adj" fmla="val 24000"/>
            </a:avLst>
          </a:prstGeom>
          <a:solidFill>
            <a:srgbClr val="0D9488">
              <a:alpha val="10000"/>
            </a:srgbClr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763" y="1414090"/>
            <a:ext cx="125685" cy="12568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73323" y="1408956"/>
            <a:ext cx="165526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Profile Matching</a:t>
            </a:r>
            <a:endParaRPr lang="en-US" sz="860" dirty="0"/>
          </a:p>
        </p:txBody>
      </p:sp>
      <p:sp>
        <p:nvSpPr>
          <p:cNvPr id="14" name="Text 11"/>
          <p:cNvSpPr/>
          <p:nvPr/>
        </p:nvSpPr>
        <p:spPr>
          <a:xfrm>
            <a:off x="553343" y="1652215"/>
            <a:ext cx="3010473" cy="38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students and alumni based on shared skills,</a:t>
            </a:r>
            <a:endParaRPr lang="en-US" sz="72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interests, and domain areas using intelligent</a:t>
            </a:r>
            <a:endParaRPr lang="en-US" sz="72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matching algorithms</a:t>
            </a:r>
            <a:endParaRPr lang="en-US" sz="720" dirty="0"/>
          </a:p>
        </p:txBody>
      </p:sp>
      <p:sp>
        <p:nvSpPr>
          <p:cNvPr id="15" name="Shape 12"/>
          <p:cNvSpPr/>
          <p:nvPr/>
        </p:nvSpPr>
        <p:spPr>
          <a:xfrm>
            <a:off x="3231319" y="1230474"/>
            <a:ext cx="2681288" cy="1633538"/>
          </a:xfrm>
          <a:prstGeom prst="roundRect">
            <a:avLst>
              <a:gd name="adj" fmla="val 5598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137160" dist="45720" dir="5400000">
              <a:srgbClr val="1E3A5F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418433" y="1362670"/>
            <a:ext cx="228600" cy="228600"/>
          </a:xfrm>
          <a:prstGeom prst="roundRect">
            <a:avLst>
              <a:gd name="adj" fmla="val 24000"/>
            </a:avLst>
          </a:prstGeom>
          <a:solidFill>
            <a:srgbClr val="0D9488">
              <a:alpha val="10000"/>
            </a:srgbClr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9853" y="1414090"/>
            <a:ext cx="125685" cy="12568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738414" y="1408956"/>
            <a:ext cx="154237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Mentorship Requests</a:t>
            </a:r>
            <a:endParaRPr lang="en-US" sz="860" dirty="0"/>
          </a:p>
        </p:txBody>
      </p:sp>
      <p:sp>
        <p:nvSpPr>
          <p:cNvPr id="19" name="Text 15"/>
          <p:cNvSpPr/>
          <p:nvPr/>
        </p:nvSpPr>
        <p:spPr>
          <a:xfrm>
            <a:off x="3418433" y="1652215"/>
            <a:ext cx="2792231" cy="251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send formal mentorship invitations with</a:t>
            </a:r>
            <a:endParaRPr lang="en-US" sz="72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defined goals; alumni accept and track sessions</a:t>
            </a:r>
            <a:endParaRPr lang="en-US" sz="720" dirty="0"/>
          </a:p>
        </p:txBody>
      </p:sp>
      <p:sp>
        <p:nvSpPr>
          <p:cNvPr id="20" name="Shape 16"/>
          <p:cNvSpPr/>
          <p:nvPr/>
        </p:nvSpPr>
        <p:spPr>
          <a:xfrm>
            <a:off x="6096409" y="1230474"/>
            <a:ext cx="2681288" cy="1633538"/>
          </a:xfrm>
          <a:prstGeom prst="roundRect">
            <a:avLst>
              <a:gd name="adj" fmla="val 5598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137160" dist="45720" dir="5400000">
              <a:srgbClr val="1E3A5F">
                <a:alpha val="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83523" y="1362670"/>
            <a:ext cx="228600" cy="228600"/>
          </a:xfrm>
          <a:prstGeom prst="roundRect">
            <a:avLst>
              <a:gd name="adj" fmla="val 24000"/>
            </a:avLst>
          </a:prstGeom>
          <a:solidFill>
            <a:srgbClr val="0D9488">
              <a:alpha val="10000"/>
            </a:srgbClr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944" y="1414090"/>
            <a:ext cx="125685" cy="12568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603504" y="1408956"/>
            <a:ext cx="123184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Alumni Directory</a:t>
            </a:r>
            <a:endParaRPr lang="en-US" sz="860" dirty="0"/>
          </a:p>
        </p:txBody>
      </p:sp>
      <p:sp>
        <p:nvSpPr>
          <p:cNvPr id="24" name="Text 19"/>
          <p:cNvSpPr/>
          <p:nvPr/>
        </p:nvSpPr>
        <p:spPr>
          <a:xfrm>
            <a:off x="6283523" y="1652215"/>
            <a:ext cx="2891388" cy="251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Searchable, filterable directory of alumni by batch,</a:t>
            </a:r>
            <a:endParaRPr lang="en-US" sz="72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 of work, and geographic location</a:t>
            </a:r>
            <a:endParaRPr lang="en-US" sz="720" dirty="0"/>
          </a:p>
        </p:txBody>
      </p:sp>
      <p:sp>
        <p:nvSpPr>
          <p:cNvPr id="25" name="Shape 20"/>
          <p:cNvSpPr/>
          <p:nvPr/>
        </p:nvSpPr>
        <p:spPr>
          <a:xfrm>
            <a:off x="366229" y="2966814"/>
            <a:ext cx="2681288" cy="16383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137160" dist="45720" dir="5400000">
              <a:srgbClr val="1E3A5F">
                <a:alpha val="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53343" y="3101355"/>
            <a:ext cx="228600" cy="228600"/>
          </a:xfrm>
          <a:prstGeom prst="roundRect">
            <a:avLst>
              <a:gd name="adj" fmla="val 24000"/>
            </a:avLst>
          </a:prstGeom>
          <a:solidFill>
            <a:srgbClr val="0D9488">
              <a:alpha val="10000"/>
            </a:srgbClr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63" y="3152775"/>
            <a:ext cx="125685" cy="12568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73323" y="3147640"/>
            <a:ext cx="138352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Discussion Forums</a:t>
            </a:r>
            <a:endParaRPr lang="en-US" sz="860" dirty="0"/>
          </a:p>
        </p:txBody>
      </p:sp>
      <p:sp>
        <p:nvSpPr>
          <p:cNvPr id="29" name="Text 23"/>
          <p:cNvSpPr/>
          <p:nvPr/>
        </p:nvSpPr>
        <p:spPr>
          <a:xfrm>
            <a:off x="553343" y="3390900"/>
            <a:ext cx="2871654" cy="251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Topic-based community boards for career advice,</a:t>
            </a:r>
            <a:endParaRPr lang="en-US" sz="72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sharing, and peer discussions</a:t>
            </a:r>
            <a:endParaRPr lang="en-US" sz="720" dirty="0"/>
          </a:p>
        </p:txBody>
      </p:sp>
      <p:sp>
        <p:nvSpPr>
          <p:cNvPr id="30" name="Shape 24"/>
          <p:cNvSpPr/>
          <p:nvPr/>
        </p:nvSpPr>
        <p:spPr>
          <a:xfrm>
            <a:off x="3231319" y="2966814"/>
            <a:ext cx="2681288" cy="16383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137160" dist="45720" dir="5400000">
              <a:srgbClr val="1E3A5F">
                <a:alpha val="5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418433" y="3101355"/>
            <a:ext cx="228600" cy="228600"/>
          </a:xfrm>
          <a:prstGeom prst="roundRect">
            <a:avLst>
              <a:gd name="adj" fmla="val 24000"/>
            </a:avLst>
          </a:prstGeom>
          <a:solidFill>
            <a:srgbClr val="0D9488">
              <a:alpha val="10000"/>
            </a:srgbClr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9853" y="3152775"/>
            <a:ext cx="125685" cy="125685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738414" y="3147640"/>
            <a:ext cx="163504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 &amp; Internship Board</a:t>
            </a:r>
            <a:endParaRPr lang="en-US" sz="860" dirty="0"/>
          </a:p>
        </p:txBody>
      </p:sp>
      <p:sp>
        <p:nvSpPr>
          <p:cNvPr id="34" name="Text 27"/>
          <p:cNvSpPr/>
          <p:nvPr/>
        </p:nvSpPr>
        <p:spPr>
          <a:xfrm>
            <a:off x="3418433" y="3390900"/>
            <a:ext cx="2951269" cy="251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Alumni post exclusive job and internship</a:t>
            </a:r>
            <a:endParaRPr lang="en-US" sz="72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opportunities for current students at their institution</a:t>
            </a:r>
            <a:endParaRPr lang="en-US" sz="720" dirty="0"/>
          </a:p>
        </p:txBody>
      </p:sp>
      <p:sp>
        <p:nvSpPr>
          <p:cNvPr id="35" name="Shape 28"/>
          <p:cNvSpPr/>
          <p:nvPr/>
        </p:nvSpPr>
        <p:spPr>
          <a:xfrm>
            <a:off x="6096409" y="2966814"/>
            <a:ext cx="2681288" cy="16383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137160" dist="45720" dir="5400000">
              <a:srgbClr val="1E3A5F">
                <a:alpha val="5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283523" y="3101355"/>
            <a:ext cx="228600" cy="228600"/>
          </a:xfrm>
          <a:prstGeom prst="roundRect">
            <a:avLst>
              <a:gd name="adj" fmla="val 24000"/>
            </a:avLst>
          </a:prstGeom>
          <a:solidFill>
            <a:srgbClr val="0D9488">
              <a:alpha val="10000"/>
            </a:srgbClr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4944" y="3152775"/>
            <a:ext cx="125685" cy="125685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603504" y="3147640"/>
            <a:ext cx="135866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Events &amp; Webinars</a:t>
            </a:r>
            <a:endParaRPr lang="en-US" sz="860" dirty="0"/>
          </a:p>
        </p:txBody>
      </p:sp>
      <p:sp>
        <p:nvSpPr>
          <p:cNvPr id="39" name="Text 31"/>
          <p:cNvSpPr/>
          <p:nvPr/>
        </p:nvSpPr>
        <p:spPr>
          <a:xfrm>
            <a:off x="6283523" y="3390900"/>
            <a:ext cx="2687657" cy="251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Institutional events, alumni reunions, and guest</a:t>
            </a:r>
            <a:endParaRPr lang="en-US" sz="72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lectures organized in a shared calendar</a:t>
            </a:r>
            <a:endParaRPr lang="en-US" sz="720" dirty="0"/>
          </a:p>
        </p:txBody>
      </p:sp>
      <p:sp>
        <p:nvSpPr>
          <p:cNvPr id="40" name="Shape 32"/>
          <p:cNvSpPr/>
          <p:nvPr/>
        </p:nvSpPr>
        <p:spPr>
          <a:xfrm>
            <a:off x="366713" y="4705610"/>
            <a:ext cx="8410575" cy="233362"/>
          </a:xfrm>
          <a:prstGeom prst="rect">
            <a:avLst/>
          </a:prstGeom>
          <a:ln/>
        </p:spPr>
      </p:sp>
      <p:sp>
        <p:nvSpPr>
          <p:cNvPr id="41" name="Text 33"/>
          <p:cNvSpPr/>
          <p:nvPr/>
        </p:nvSpPr>
        <p:spPr>
          <a:xfrm>
            <a:off x="365745" y="4823892"/>
            <a:ext cx="193242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Alumni Connect — CSE Project 2026</a:t>
            </a:r>
            <a:endParaRPr lang="en-US" sz="650" dirty="0"/>
          </a:p>
        </p:txBody>
      </p:sp>
      <p:sp>
        <p:nvSpPr>
          <p:cNvPr id="42" name="Text 34"/>
          <p:cNvSpPr/>
          <p:nvPr/>
        </p:nvSpPr>
        <p:spPr>
          <a:xfrm>
            <a:off x="7413427" y="4823892"/>
            <a:ext cx="95681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Academic Project</a:t>
            </a:r>
            <a:endParaRPr lang="en-US" sz="650" dirty="0"/>
          </a:p>
        </p:txBody>
      </p:sp>
      <p:sp>
        <p:nvSpPr>
          <p:cNvPr id="43" name="Text 35"/>
          <p:cNvSpPr/>
          <p:nvPr/>
        </p:nvSpPr>
        <p:spPr>
          <a:xfrm>
            <a:off x="8196858" y="4823892"/>
            <a:ext cx="11422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50" dirty="0"/>
          </a:p>
        </p:txBody>
      </p:sp>
      <p:sp>
        <p:nvSpPr>
          <p:cNvPr id="44" name="Text 36"/>
          <p:cNvSpPr/>
          <p:nvPr/>
        </p:nvSpPr>
        <p:spPr>
          <a:xfrm>
            <a:off x="8332143" y="4823892"/>
            <a:ext cx="63709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4 of 6</a:t>
            </a:r>
            <a:endParaRPr lang="en-US" sz="650" dirty="0"/>
          </a:p>
        </p:txBody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6713" y="205643"/>
            <a:ext cx="8410575" cy="290513"/>
          </a:xfrm>
          <a:prstGeom prst="rect">
            <a:avLst/>
          </a:prstGeom>
        </p:spPr>
      </p:pic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6713" y="4705610"/>
            <a:ext cx="8410575" cy="2333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" name="Shape 1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name="adj" fmla="val 20211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39961" y="229046"/>
            <a:ext cx="121385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17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Alumni Connect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7234610" y="238051"/>
            <a:ext cx="152824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 &amp; TECHNOLOGIES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8549060" y="238051"/>
            <a:ext cx="35510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365745" y="1166440"/>
            <a:ext cx="165652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43" kern="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STACK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365261" y="1445791"/>
            <a:ext cx="4024312" cy="8572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137160" dist="45720" dir="5400000">
              <a:srgbClr val="1E3A5F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53343" y="1588219"/>
            <a:ext cx="69175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650" b="1" spc="32" kern="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553343" y="1793528"/>
            <a:ext cx="62045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React.js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3673153" y="1778161"/>
            <a:ext cx="528638" cy="166688"/>
          </a:xfrm>
          <a:prstGeom prst="roundRect">
            <a:avLst>
              <a:gd name="adj" fmla="val 50000"/>
            </a:avLst>
          </a:prstGeom>
          <a:solidFill>
            <a:srgbClr val="0D9488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746599" y="1809304"/>
            <a:ext cx="55341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Library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553343" y="2019821"/>
            <a:ext cx="96649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Tailwind CSS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3782653" y="2004454"/>
            <a:ext cx="419100" cy="166688"/>
          </a:xfrm>
          <a:prstGeom prst="roundRect">
            <a:avLst>
              <a:gd name="adj" fmla="val 50000"/>
            </a:avLst>
          </a:prstGeom>
          <a:solidFill>
            <a:srgbClr val="0D9488">
              <a:alpha val="1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856062" y="2035597"/>
            <a:ext cx="41111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Styling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365261" y="2432521"/>
            <a:ext cx="4024312" cy="8572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137160" dist="45720" dir="5400000">
              <a:srgbClr val="1E3A5F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3343" y="2574950"/>
            <a:ext cx="62026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650" b="1" spc="32" kern="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553343" y="2780258"/>
            <a:ext cx="59424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3733837" y="2764892"/>
            <a:ext cx="466725" cy="16668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3806056" y="2796034"/>
            <a:ext cx="47612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Runtime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553343" y="3006551"/>
            <a:ext cx="78181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Express.js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3615444" y="2991185"/>
            <a:ext cx="585788" cy="16668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3688333" y="3022327"/>
            <a:ext cx="62916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365261" y="3418024"/>
            <a:ext cx="4024312" cy="633412"/>
          </a:xfrm>
          <a:prstGeom prst="roundRect">
            <a:avLst>
              <a:gd name="adj" fmla="val 14436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137160" dist="45720" dir="5400000">
              <a:srgbClr val="1E3A5F">
                <a:alpha val="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53343" y="3561680"/>
            <a:ext cx="177870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650" b="1" spc="32" kern="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 CONTROL &amp; DEVOPS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553343" y="3766989"/>
            <a:ext cx="90186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&amp; GitHub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3464496" y="3766989"/>
            <a:ext cx="101524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 / Render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4754835" y="812825"/>
            <a:ext cx="205111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43" kern="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&amp; INFRASTRUCTURE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4754389" y="1092845"/>
            <a:ext cx="4024312" cy="766763"/>
          </a:xfrm>
          <a:prstGeom prst="roundRect">
            <a:avLst>
              <a:gd name="adj" fmla="val 11925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137160" dist="45720" dir="5400000">
              <a:srgbClr val="1E3A5F">
                <a:alpha val="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42433" y="1234604"/>
            <a:ext cx="66843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650" b="1" spc="32" kern="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4942433" y="1439912"/>
            <a:ext cx="74109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MongoDB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4942433" y="1599754"/>
            <a:ext cx="202548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Alumni profiles, posts, connections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8170590" y="1493155"/>
            <a:ext cx="419100" cy="166688"/>
          </a:xfrm>
          <a:prstGeom prst="roundRect">
            <a:avLst>
              <a:gd name="adj" fmla="val 50000"/>
            </a:avLst>
          </a:prstGeom>
          <a:solidFill>
            <a:srgbClr val="0D9488">
              <a:alpha val="1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8242771" y="1524298"/>
            <a:ext cx="41430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NoSQL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4754389" y="1990427"/>
            <a:ext cx="4024312" cy="766763"/>
          </a:xfrm>
          <a:prstGeom prst="roundRect">
            <a:avLst>
              <a:gd name="adj" fmla="val 11925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137160" dist="45720" dir="5400000">
              <a:srgbClr val="1E3A5F">
                <a:alpha val="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942433" y="2132186"/>
            <a:ext cx="109863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650" b="1" spc="32" kern="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4942433" y="2337495"/>
            <a:ext cx="124509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JWT-Based Auth</a:t>
            </a:r>
            <a:endParaRPr lang="en-US" sz="860" dirty="0"/>
          </a:p>
        </p:txBody>
      </p:sp>
      <p:sp>
        <p:nvSpPr>
          <p:cNvPr id="39" name="Text 37"/>
          <p:cNvSpPr/>
          <p:nvPr/>
        </p:nvSpPr>
        <p:spPr>
          <a:xfrm>
            <a:off x="4942433" y="2497336"/>
            <a:ext cx="269317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login with institutional email verification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4754389" y="2888010"/>
            <a:ext cx="4024312" cy="766763"/>
          </a:xfrm>
          <a:prstGeom prst="roundRect">
            <a:avLst>
              <a:gd name="adj" fmla="val 11925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137160" dist="45720" dir="5400000">
              <a:srgbClr val="1E3A5F">
                <a:alpha val="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942433" y="3029769"/>
            <a:ext cx="130294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650" b="1" spc="32" kern="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&amp; MATCHING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4942433" y="3235077"/>
            <a:ext cx="99609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Elasticsearch</a:t>
            </a:r>
            <a:endParaRPr lang="en-US" sz="860" dirty="0"/>
          </a:p>
        </p:txBody>
      </p:sp>
      <p:sp>
        <p:nvSpPr>
          <p:cNvPr id="43" name="Text 41"/>
          <p:cNvSpPr/>
          <p:nvPr/>
        </p:nvSpPr>
        <p:spPr>
          <a:xfrm>
            <a:off x="4942433" y="3394918"/>
            <a:ext cx="278449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Skill-based profile discovery and full-text search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4754389" y="3784811"/>
            <a:ext cx="4024312" cy="619125"/>
          </a:xfrm>
          <a:prstGeom prst="roundRect">
            <a:avLst>
              <a:gd name="adj" fmla="val 14769"/>
            </a:avLst>
          </a:prstGeom>
          <a:solidFill>
            <a:srgbClr val="1E3A5F"/>
          </a:solidFill>
          <a:ln w="4763">
            <a:solidFill>
              <a:srgbClr val="1E3A5F"/>
            </a:solidFill>
            <a:prstDash val="solid"/>
          </a:ln>
          <a:effectLst>
            <a:outerShdw sx="100000" sy="100000" kx="0" ky="0" algn="bl" rotWithShape="0" blurRad="137160" dist="45720" dir="5400000">
              <a:srgbClr val="1E3A5F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942433" y="3927351"/>
            <a:ext cx="85272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650" b="1" spc="32" kern="0" dirty="0">
                <a:solidFill>
                  <a:srgbClr val="A5B0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4942433" y="4106987"/>
            <a:ext cx="109524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 / Render</a:t>
            </a:r>
            <a:endParaRPr lang="en-US" sz="940" dirty="0"/>
          </a:p>
        </p:txBody>
      </p:sp>
      <p:sp>
        <p:nvSpPr>
          <p:cNvPr id="47" name="Shape 45"/>
          <p:cNvSpPr/>
          <p:nvPr/>
        </p:nvSpPr>
        <p:spPr>
          <a:xfrm>
            <a:off x="7867204" y="4098466"/>
            <a:ext cx="723900" cy="166688"/>
          </a:xfrm>
          <a:prstGeom prst="roundRect">
            <a:avLst>
              <a:gd name="adj" fmla="val 50000"/>
            </a:avLst>
          </a:prstGeom>
          <a:solidFill>
            <a:srgbClr val="0D9488">
              <a:alpha val="2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7940799" y="4129608"/>
            <a:ext cx="80687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CI/CD Pipeline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366713" y="4705610"/>
            <a:ext cx="8410575" cy="233362"/>
          </a:xfrm>
          <a:prstGeom prst="rect">
            <a:avLst/>
          </a:prstGeom>
          <a:ln/>
        </p:spPr>
      </p:sp>
      <p:sp>
        <p:nvSpPr>
          <p:cNvPr id="50" name="Text 48"/>
          <p:cNvSpPr/>
          <p:nvPr/>
        </p:nvSpPr>
        <p:spPr>
          <a:xfrm>
            <a:off x="365745" y="4823892"/>
            <a:ext cx="193242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Alumni Connect — CSE Project 2026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7417817" y="4823892"/>
            <a:ext cx="95681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Academic Project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8201248" y="4823892"/>
            <a:ext cx="11422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8336533" y="4823892"/>
            <a:ext cx="63138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5 of 6</a:t>
            </a:r>
            <a:endParaRPr lang="en-US" sz="650" dirty="0"/>
          </a:p>
        </p:txBody>
      </p:sp>
      <p:pic>
        <p:nvPicPr>
          <p:cNvPr id="5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6713" y="205643"/>
            <a:ext cx="8410575" cy="290513"/>
          </a:xfrm>
          <a:prstGeom prst="rect">
            <a:avLst/>
          </a:prstGeom>
        </p:spPr>
      </p:pic>
      <p:pic>
        <p:nvPicPr>
          <p:cNvPr id="5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4705610"/>
            <a:ext cx="8410575" cy="2333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" name="Shape 1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name="adj" fmla="val 20211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39961" y="229046"/>
            <a:ext cx="121385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17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Alumni Connect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7391102" y="238051"/>
            <a:ext cx="132480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OUTCOME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8549060" y="238051"/>
            <a:ext cx="35510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366192" y="990526"/>
            <a:ext cx="547687" cy="547687"/>
          </a:xfrm>
          <a:prstGeom prst="ellipse">
            <a:avLst/>
          </a:prstGeom>
          <a:solidFill>
            <a:srgbClr val="0D9488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80492" y="1104826"/>
            <a:ext cx="319088" cy="3190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004" y="1176338"/>
            <a:ext cx="175989" cy="17598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65745" y="1655787"/>
            <a:ext cx="185803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43" kern="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DELIVERABLE</a:t>
            </a:r>
            <a:endParaRPr lang="en-US" sz="860" dirty="0"/>
          </a:p>
        </p:txBody>
      </p:sp>
      <p:sp>
        <p:nvSpPr>
          <p:cNvPr id="12" name="Text 9"/>
          <p:cNvSpPr/>
          <p:nvPr/>
        </p:nvSpPr>
        <p:spPr>
          <a:xfrm>
            <a:off x="365745" y="1885131"/>
            <a:ext cx="3090476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spc="-58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Will</a:t>
            </a:r>
            <a:endParaRPr lang="en-US" sz="2880" dirty="0"/>
          </a:p>
        </p:txBody>
      </p:sp>
      <p:sp>
        <p:nvSpPr>
          <p:cNvPr id="13" name="Text 10"/>
          <p:cNvSpPr/>
          <p:nvPr/>
        </p:nvSpPr>
        <p:spPr>
          <a:xfrm>
            <a:off x="365745" y="2287414"/>
            <a:ext cx="1908044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spc="-58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Achieve</a:t>
            </a:r>
            <a:endParaRPr lang="en-US" sz="2880" dirty="0"/>
          </a:p>
        </p:txBody>
      </p:sp>
      <p:sp>
        <p:nvSpPr>
          <p:cNvPr id="14" name="Text 11"/>
          <p:cNvSpPr/>
          <p:nvPr/>
        </p:nvSpPr>
        <p:spPr>
          <a:xfrm>
            <a:off x="365745" y="2835399"/>
            <a:ext cx="3984627" cy="523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97"/>
              </a:lnSpc>
              <a:buNone/>
            </a:pPr>
            <a:r>
              <a:rPr lang="en-US" sz="94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fully functional, scalable alumni-student networking</a:t>
            </a:r>
            <a:endParaRPr lang="en-US" sz="940" dirty="0"/>
          </a:p>
          <a:p>
            <a:pPr algn="l" indent="0" marL="0">
              <a:lnSpc>
                <a:spcPts val="1497"/>
              </a:lnSpc>
              <a:buNone/>
            </a:pPr>
            <a:r>
              <a:rPr lang="en-US" sz="94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tailored to institutional needs — ready for</a:t>
            </a:r>
            <a:endParaRPr lang="en-US" sz="940" dirty="0"/>
          </a:p>
          <a:p>
            <a:pPr algn="l" indent="0" marL="0">
              <a:lnSpc>
                <a:spcPts val="1497"/>
              </a:lnSpc>
              <a:buNone/>
            </a:pPr>
            <a:r>
              <a:rPr lang="en-US" sz="94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real-world deployment.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365373" y="3489201"/>
            <a:ext cx="3219450" cy="72390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137160" dist="45720" dir="5400000">
              <a:srgbClr val="1E3A5F">
                <a:alpha val="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53343" y="3632448"/>
            <a:ext cx="82389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650" b="1" spc="32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SCALABILITY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553343" y="3781574"/>
            <a:ext cx="3611411" cy="287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8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Multi-department and multi-institution deployment</a:t>
            </a:r>
            <a:endParaRPr lang="en-US" sz="860" dirty="0"/>
          </a:p>
          <a:p>
            <a:pPr algn="l" indent="0" marL="0">
              <a:lnSpc>
                <a:spcPts val="1210"/>
              </a:lnSpc>
              <a:buNone/>
            </a:pPr>
            <a:r>
              <a:rPr lang="en-US" sz="8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3949638" y="894197"/>
            <a:ext cx="4829175" cy="576262"/>
          </a:xfrm>
          <a:prstGeom prst="roundRect">
            <a:avLst>
              <a:gd name="adj" fmla="val 15868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137160" dist="45720" dir="5400000">
              <a:srgbClr val="1E3A5F">
                <a:alpha val="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182591" y="1158478"/>
            <a:ext cx="47625" cy="47625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4366394" y="1042615"/>
            <a:ext cx="226133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8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 Networking Platform</a:t>
            </a:r>
            <a:endParaRPr lang="en-US" sz="860" dirty="0"/>
          </a:p>
        </p:txBody>
      </p:sp>
      <p:sp>
        <p:nvSpPr>
          <p:cNvPr id="21" name="Text 18"/>
          <p:cNvSpPr/>
          <p:nvPr/>
        </p:nvSpPr>
        <p:spPr>
          <a:xfrm>
            <a:off x="4366394" y="1213098"/>
            <a:ext cx="469410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fully functional alumni-student networking platform tailored to institutional needs</a:t>
            </a:r>
            <a:endParaRPr lang="en-US" sz="720" dirty="0"/>
          </a:p>
        </p:txBody>
      </p:sp>
      <p:sp>
        <p:nvSpPr>
          <p:cNvPr id="22" name="Shape 19"/>
          <p:cNvSpPr/>
          <p:nvPr/>
        </p:nvSpPr>
        <p:spPr>
          <a:xfrm>
            <a:off x="3949638" y="1571737"/>
            <a:ext cx="4829175" cy="576262"/>
          </a:xfrm>
          <a:prstGeom prst="roundRect">
            <a:avLst>
              <a:gd name="adj" fmla="val 15868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137160" dist="45720" dir="5400000">
              <a:srgbClr val="1E3A5F">
                <a:alpha val="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182591" y="1836018"/>
            <a:ext cx="47625" cy="47625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1"/>
          <p:cNvSpPr/>
          <p:nvPr/>
        </p:nvSpPr>
        <p:spPr>
          <a:xfrm>
            <a:off x="4366394" y="1720155"/>
            <a:ext cx="191210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8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Improved Placement Rates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366394" y="1890638"/>
            <a:ext cx="49767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Increased placement success through direct alumni referrals and exclusive job postings</a:t>
            </a:r>
            <a:endParaRPr lang="en-US" sz="720" dirty="0"/>
          </a:p>
        </p:txBody>
      </p:sp>
      <p:sp>
        <p:nvSpPr>
          <p:cNvPr id="26" name="Shape 23"/>
          <p:cNvSpPr/>
          <p:nvPr/>
        </p:nvSpPr>
        <p:spPr>
          <a:xfrm>
            <a:off x="3949638" y="2249277"/>
            <a:ext cx="4829175" cy="576262"/>
          </a:xfrm>
          <a:prstGeom prst="roundRect">
            <a:avLst>
              <a:gd name="adj" fmla="val 15868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137160" dist="45720" dir="5400000">
              <a:srgbClr val="1E3A5F">
                <a:alpha val="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182591" y="2513558"/>
            <a:ext cx="47625" cy="47625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8" name="Text 25"/>
          <p:cNvSpPr/>
          <p:nvPr/>
        </p:nvSpPr>
        <p:spPr>
          <a:xfrm>
            <a:off x="4366394" y="2397696"/>
            <a:ext cx="214002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8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Mentorship Ecosystem</a:t>
            </a:r>
            <a:endParaRPr lang="en-US" sz="860" dirty="0"/>
          </a:p>
        </p:txBody>
      </p:sp>
      <p:sp>
        <p:nvSpPr>
          <p:cNvPr id="29" name="Text 26"/>
          <p:cNvSpPr/>
          <p:nvPr/>
        </p:nvSpPr>
        <p:spPr>
          <a:xfrm>
            <a:off x="4366394" y="2568178"/>
            <a:ext cx="514422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Connecting students with domain experts for structured guidance and career development</a:t>
            </a:r>
            <a:endParaRPr lang="en-US" sz="720" dirty="0"/>
          </a:p>
        </p:txBody>
      </p:sp>
      <p:sp>
        <p:nvSpPr>
          <p:cNvPr id="30" name="Shape 27"/>
          <p:cNvSpPr/>
          <p:nvPr/>
        </p:nvSpPr>
        <p:spPr>
          <a:xfrm>
            <a:off x="3949638" y="2926519"/>
            <a:ext cx="4829175" cy="704850"/>
          </a:xfrm>
          <a:prstGeom prst="roundRect">
            <a:avLst>
              <a:gd name="adj" fmla="val 12973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137160" dist="45720" dir="5400000">
              <a:srgbClr val="1E3A5F">
                <a:alpha val="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182591" y="3255094"/>
            <a:ext cx="47625" cy="47625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29"/>
          <p:cNvSpPr/>
          <p:nvPr/>
        </p:nvSpPr>
        <p:spPr>
          <a:xfrm>
            <a:off x="4366394" y="3075236"/>
            <a:ext cx="210500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8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Stronger Alumni Engagement</a:t>
            </a:r>
            <a:endParaRPr lang="en-US" sz="860" dirty="0"/>
          </a:p>
        </p:txBody>
      </p:sp>
      <p:sp>
        <p:nvSpPr>
          <p:cNvPr id="33" name="Text 30"/>
          <p:cNvSpPr/>
          <p:nvPr/>
        </p:nvSpPr>
        <p:spPr>
          <a:xfrm>
            <a:off x="4366394" y="3245718"/>
            <a:ext cx="5053585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alumni participation and stronger institution community bonds through structured</a:t>
            </a:r>
            <a:endParaRPr lang="en-US" sz="720" dirty="0"/>
          </a:p>
          <a:p>
            <a:pPr algn="l" indent="0" marL="0">
              <a:lnSpc>
                <a:spcPts val="1008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give-back channels</a:t>
            </a:r>
            <a:endParaRPr lang="en-US" sz="720" dirty="0"/>
          </a:p>
        </p:txBody>
      </p:sp>
      <p:sp>
        <p:nvSpPr>
          <p:cNvPr id="34" name="Shape 31"/>
          <p:cNvSpPr/>
          <p:nvPr/>
        </p:nvSpPr>
        <p:spPr>
          <a:xfrm>
            <a:off x="3949638" y="3732349"/>
            <a:ext cx="4829175" cy="576262"/>
          </a:xfrm>
          <a:prstGeom prst="roundRect">
            <a:avLst>
              <a:gd name="adj" fmla="val 15868"/>
            </a:avLst>
          </a:prstGeom>
          <a:solidFill>
            <a:srgbClr val="0D9488">
              <a:alpha val="6000"/>
            </a:srgbClr>
          </a:solidFill>
          <a:ln w="4763">
            <a:solidFill>
              <a:srgbClr val="0D9488">
                <a:alpha val="20000"/>
              </a:srgbClr>
            </a:solidFill>
            <a:prstDash val="solid"/>
          </a:ln>
          <a:effectLst>
            <a:outerShdw sx="100000" sy="100000" kx="0" ky="0" algn="bl" rotWithShape="0" blurRad="137160" dist="45720" dir="5400000">
              <a:srgbClr val="0D9488">
                <a:alpha val="7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182591" y="3996630"/>
            <a:ext cx="47625" cy="47625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6" name="Text 33"/>
          <p:cNvSpPr/>
          <p:nvPr/>
        </p:nvSpPr>
        <p:spPr>
          <a:xfrm>
            <a:off x="4366394" y="3880768"/>
            <a:ext cx="155978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86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 Architecture</a:t>
            </a:r>
            <a:endParaRPr lang="en-US" sz="860" dirty="0"/>
          </a:p>
        </p:txBody>
      </p:sp>
      <p:sp>
        <p:nvSpPr>
          <p:cNvPr id="37" name="Text 34"/>
          <p:cNvSpPr/>
          <p:nvPr/>
        </p:nvSpPr>
        <p:spPr>
          <a:xfrm>
            <a:off x="4366394" y="4051250"/>
            <a:ext cx="548136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 for multi-department and multi-institution deployment with minimal configuration changes</a:t>
            </a:r>
            <a:endParaRPr lang="en-US" sz="720" dirty="0"/>
          </a:p>
        </p:txBody>
      </p:sp>
      <p:sp>
        <p:nvSpPr>
          <p:cNvPr id="38" name="Shape 35"/>
          <p:cNvSpPr/>
          <p:nvPr/>
        </p:nvSpPr>
        <p:spPr>
          <a:xfrm>
            <a:off x="366713" y="4705610"/>
            <a:ext cx="8410575" cy="233362"/>
          </a:xfrm>
          <a:prstGeom prst="rect">
            <a:avLst/>
          </a:prstGeom>
          <a:ln/>
        </p:spPr>
      </p:sp>
      <p:sp>
        <p:nvSpPr>
          <p:cNvPr id="39" name="Text 36"/>
          <p:cNvSpPr/>
          <p:nvPr/>
        </p:nvSpPr>
        <p:spPr>
          <a:xfrm>
            <a:off x="365745" y="4823892"/>
            <a:ext cx="193242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Alumni Connect — CSE Project 2026</a:t>
            </a:r>
            <a:endParaRPr lang="en-US" sz="650" dirty="0"/>
          </a:p>
        </p:txBody>
      </p:sp>
      <p:sp>
        <p:nvSpPr>
          <p:cNvPr id="40" name="Text 37"/>
          <p:cNvSpPr/>
          <p:nvPr/>
        </p:nvSpPr>
        <p:spPr>
          <a:xfrm>
            <a:off x="7415585" y="4823892"/>
            <a:ext cx="95681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Academic Project</a:t>
            </a:r>
            <a:endParaRPr lang="en-US" sz="650" dirty="0"/>
          </a:p>
        </p:txBody>
      </p:sp>
      <p:sp>
        <p:nvSpPr>
          <p:cNvPr id="41" name="Text 38"/>
          <p:cNvSpPr/>
          <p:nvPr/>
        </p:nvSpPr>
        <p:spPr>
          <a:xfrm>
            <a:off x="8199016" y="4823892"/>
            <a:ext cx="11422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50" dirty="0"/>
          </a:p>
        </p:txBody>
      </p:sp>
      <p:sp>
        <p:nvSpPr>
          <p:cNvPr id="42" name="Text 39"/>
          <p:cNvSpPr/>
          <p:nvPr/>
        </p:nvSpPr>
        <p:spPr>
          <a:xfrm>
            <a:off x="8334301" y="4823892"/>
            <a:ext cx="63429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6 of 6</a:t>
            </a:r>
            <a:endParaRPr lang="en-US" sz="650" dirty="0"/>
          </a:p>
        </p:txBody>
      </p:sp>
      <p:pic>
        <p:nvPicPr>
          <p:cNvPr id="4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5643"/>
            <a:ext cx="8410575" cy="290513"/>
          </a:xfrm>
          <a:prstGeom prst="rect">
            <a:avLst/>
          </a:prstGeom>
        </p:spPr>
      </p:pic>
      <p:pic>
        <p:nvPicPr>
          <p:cNvPr id="4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4705610"/>
            <a:ext cx="8410575" cy="2333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2026-08-03T09:02:29Z</dcterms:created>
  <dcterms:modified xsi:type="dcterms:W3CDTF">2026-08-03T09:02:29Z</dcterms:modified>
</cp:coreProperties>
</file>